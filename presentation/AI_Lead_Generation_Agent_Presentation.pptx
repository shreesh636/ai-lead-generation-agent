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professors and committee members. Today I present Assignment 07: The AI Lead Generation Agent. This project is a fully automated, production-ready system that ingests raw inbound leads, cleans and validates data, scores prospects from 0 to 100 with grounded AI reasoning, enforces human approval, handles follow-up cadences, and coordinates sales handoffs without hallucination.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B2B lead generation suffers from manual triage delays, inconsistent qualification, and pipeline leakage. When sales representatives treat every prospect equally, high-fit enterprise decision-makers receive generic outreach, while unqualified leads waste valuable sales hours.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objective of this assignment is to demonstrate a complete automated lead processing pipeline. The goal is not simply to blast emails, but to build a controlled, measurable architecture that identifies top prospects and moves them through the sales funnel with full human oversight.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follows a 4-stage pipeline: Stage 1 ingests and validates data, writing to a persistent n8n Data Table (Lead_Records). Stage 2 loops through leads one by one and evaluates them via a Groq-powered AI qualification step. Stage 3 generates personalized drafts and prompts human approval before outreach is prepared in safe demo mode. Stage 4 tracks response status, triggering automated follow-ups or preparing a sales handoff.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chose n8n for robust workflow orchestration and Groq for high-throughput, structured LLM inference. Data persistence is handled through n8n Data Tables, while Python provides deterministic unit and regression testing.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Garbage in, garbage out. Our data normalization node cleans and normalizes all 13 standard lead fields. Critically, we enforce zero hallucination: if a prospect leaves their company size or phone number empty, the system records 'Unknown' rather than letting the LLM invent plausible-sounding details.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scoring algorithm is based on 5 objective factors totaling 100 points: Title Relevance, Industry Fit, Business Need, Buying Signals, and Data Completeness. Leads scoring 65 and above are marked Qualified. Mid-tier leads are placed into Nurture campaigns, while unqualified inquiries are archived.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qualified leads, the AI agent generates a personalized email draft. The system prompt strictly prohibits fabricated claims such as 'I loved your recent LinkedIn post' or 'Following up on our call'. The message stays tightly anchored to the company's verified pain 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Autonomous agents must have guardrails. We implement a genuine native n8n Human-in-the-Loop Wait node configured with form resumption. When a lead is qualified, the workflow actually pauses execution in a Pending_Approval state and generates a review form. A human supervisor must explicitly submit Approve or Reject before the workflow continues. Furthermore, our workflow operates in Safe Demonstration Mode, preparing the exact outbound payload after approval without claiming an email was sent.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prospects do not respond, the workflow triggers automated follow-ups at Day +3 and Day +7 before gracefully closing the cadence. When a lead responds, our AI Response Analysis agent classifies the reply into Interested, Not Interested, or Unclear.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interested prospects, the agent builds a comprehensive Sales Handoff Dossier, providing the account executive with full context. All 6 required test scenarios were executed and passed with 100% precision, validating the scoring, routing, and guardrail logic.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AI Lead Generation Agent demonstrates how low-code workflow automation combined with structured LLMs can transform enterprise sales operations. Future work includes bidirectional CRM integrations, autonomous web research agents, and voice agent escalations. 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2743200"/>
          </a:xfrm>
          <a:prstGeom prst="rect">
            <a:avLst/>
          </a:prstGeom>
          <a:noFill/>
        </p:spPr>
        <p:txBody>
          <a:bodyPr wrap="square">
            <a:spAutoFit/>
          </a:bodyPr>
          <a:lstStyle/>
          <a:p>
            <a:pPr>
              <a:spcAft>
                <a:spcPts val="1400"/>
              </a:spcAft>
              <a:defRPr sz="1400" b="1">
                <a:solidFill>
                  <a:srgbClr val="38BDF8"/>
                </a:solidFill>
              </a:defRPr>
            </a:pPr>
            <a:r>
              <a:t>COLLEGE CAPSTONE PROJECT  |  ASSIGNMENT 07</a:t>
            </a:r>
          </a:p>
          <a:p>
            <a:pPr>
              <a:defRPr sz="4400" b="1">
                <a:solidFill>
                  <a:srgbClr val="F8FAFC"/>
                </a:solidFill>
              </a:defRPr>
            </a:pPr>
            <a:r>
              <a:t>AI Lead Generation Agent</a:t>
            </a:r>
          </a:p>
          <a:p>
            <a:pPr>
              <a:spcAft>
                <a:spcPts val="2400"/>
              </a:spcAft>
              <a:defRPr sz="2400">
                <a:solidFill>
                  <a:srgbClr val="10B981"/>
                </a:solidFill>
              </a:defRPr>
            </a:pPr>
            <a:r>
              <a:t>Complete Lead Qualification &amp; Outreach System</a:t>
            </a:r>
          </a:p>
          <a:p>
            <a:pPr>
              <a:defRPr sz="1400">
                <a:solidFill>
                  <a:srgbClr val="94A3B8"/>
                </a:solidFill>
              </a:defRPr>
            </a:pPr>
            <a:r>
              <a:t>End-to-End Autonomous Pipeline • n8n Workflow Automation • Groq LLM Intelligence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COLLEGE PROJECT • ASSIGNMENT 07</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defRPr>
            </a:pPr>
            <a:r>
              <a:t>Problem Statement: The Inbound Sales Bottleneck</a:t>
            </a:r>
          </a:p>
        </p:txBody>
      </p:sp>
      <p:sp>
        <p:nvSpPr>
          <p:cNvPr id="5" name="Rounded Rectangle 4"/>
          <p:cNvSpPr/>
          <p:nvPr/>
        </p:nvSpPr>
        <p:spPr>
          <a:xfrm>
            <a:off x="731520" y="1645920"/>
            <a:ext cx="329184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26080" cy="4023360"/>
          </a:xfrm>
          <a:prstGeom prst="rect">
            <a:avLst/>
          </a:prstGeom>
          <a:noFill/>
        </p:spPr>
        <p:txBody>
          <a:bodyPr wrap="square">
            <a:spAutoFit/>
          </a:bodyPr>
          <a:lstStyle/>
          <a:p>
            <a:pPr>
              <a:spcAft>
                <a:spcPts val="1200"/>
              </a:spcAft>
              <a:defRPr sz="1800" b="1">
                <a:solidFill>
                  <a:srgbClr val="38BDF8"/>
                </a:solidFill>
              </a:defRPr>
            </a:pPr>
            <a:r>
              <a:t>Manual Triage Delay</a:t>
            </a:r>
          </a:p>
          <a:p>
            <a:pPr>
              <a:spcAft>
                <a:spcPts val="800"/>
              </a:spcAft>
              <a:defRPr sz="1300">
                <a:solidFill>
                  <a:srgbClr val="F8FAFC"/>
                </a:solidFill>
              </a:defRPr>
            </a:pPr>
            <a:r>
              <a:t>•  Over 67% of inbound leads wait &gt; 24 hours for a response.</a:t>
            </a:r>
          </a:p>
          <a:p>
            <a:pPr>
              <a:spcAft>
                <a:spcPts val="800"/>
              </a:spcAft>
              <a:defRPr sz="1300">
                <a:solidFill>
                  <a:srgbClr val="F8FAFC"/>
                </a:solidFill>
              </a:defRPr>
            </a:pPr>
            <a:r>
              <a:t>•  SDR teams manually copy-paste data between sheets and email.</a:t>
            </a:r>
          </a:p>
          <a:p>
            <a:pPr>
              <a:spcAft>
                <a:spcPts val="800"/>
              </a:spcAft>
              <a:defRPr sz="1300">
                <a:solidFill>
                  <a:srgbClr val="F8FAFC"/>
                </a:solidFill>
              </a:defRPr>
            </a:pPr>
            <a:r>
              <a:t>•  Fast response (&lt; 1 hr) yields a 7x increase in conversions.</a:t>
            </a:r>
          </a:p>
          <a:p>
            <a:pPr>
              <a:spcAft>
                <a:spcPts val="800"/>
              </a:spcAft>
              <a:defRPr sz="1300">
                <a:solidFill>
                  <a:srgbClr val="F8FAFC"/>
                </a:solidFill>
              </a:defRPr>
            </a:pPr>
            <a:r>
              <a:t>•  High human error in data entry and qualification.</a:t>
            </a:r>
          </a:p>
        </p:txBody>
      </p:sp>
      <p:sp>
        <p:nvSpPr>
          <p:cNvPr id="7" name="Rounded Rectangle 6"/>
          <p:cNvSpPr/>
          <p:nvPr/>
        </p:nvSpPr>
        <p:spPr>
          <a:xfrm>
            <a:off x="4389120" y="1645920"/>
            <a:ext cx="329184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2926080" cy="4023360"/>
          </a:xfrm>
          <a:prstGeom prst="rect">
            <a:avLst/>
          </a:prstGeom>
          <a:noFill/>
        </p:spPr>
        <p:txBody>
          <a:bodyPr wrap="square">
            <a:spAutoFit/>
          </a:bodyPr>
          <a:lstStyle/>
          <a:p>
            <a:pPr>
              <a:spcAft>
                <a:spcPts val="1200"/>
              </a:spcAft>
              <a:defRPr sz="1800" b="1">
                <a:solidFill>
                  <a:srgbClr val="38BDF8"/>
                </a:solidFill>
              </a:defRPr>
            </a:pPr>
            <a:r>
              <a:t>Poor Qualification Fit</a:t>
            </a:r>
          </a:p>
          <a:p>
            <a:pPr>
              <a:spcAft>
                <a:spcPts val="800"/>
              </a:spcAft>
              <a:defRPr sz="1300">
                <a:solidFill>
                  <a:srgbClr val="F8FAFC"/>
                </a:solidFill>
              </a:defRPr>
            </a:pPr>
            <a:r>
              <a:t>•  Every lead is treated equally regardless of purchase fit.</a:t>
            </a:r>
          </a:p>
          <a:p>
            <a:pPr>
              <a:spcAft>
                <a:spcPts val="800"/>
              </a:spcAft>
              <a:defRPr sz="1300">
                <a:solidFill>
                  <a:srgbClr val="F8FAFC"/>
                </a:solidFill>
              </a:defRPr>
            </a:pPr>
            <a:r>
              <a:t>•  High-value executive leads get generic mass-blast emails.</a:t>
            </a:r>
          </a:p>
          <a:p>
            <a:pPr>
              <a:spcAft>
                <a:spcPts val="800"/>
              </a:spcAft>
              <a:defRPr sz="1300">
                <a:solidFill>
                  <a:srgbClr val="F8FAFC"/>
                </a:solidFill>
              </a:defRPr>
            </a:pPr>
            <a:r>
              <a:t>•  Low-budget students or unviable personas consume sales bandwidth.</a:t>
            </a:r>
          </a:p>
          <a:p>
            <a:pPr>
              <a:spcAft>
                <a:spcPts val="800"/>
              </a:spcAft>
              <a:defRPr sz="1300">
                <a:solidFill>
                  <a:srgbClr val="F8FAFC"/>
                </a:solidFill>
              </a:defRPr>
            </a:pPr>
            <a:r>
              <a:t>•  No standardized, measurable scoring model.</a:t>
            </a:r>
          </a:p>
        </p:txBody>
      </p:sp>
      <p:sp>
        <p:nvSpPr>
          <p:cNvPr id="9" name="Rounded Rectangle 8"/>
          <p:cNvSpPr/>
          <p:nvPr/>
        </p:nvSpPr>
        <p:spPr>
          <a:xfrm>
            <a:off x="8046720" y="1645920"/>
            <a:ext cx="329184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2926080" cy="4023360"/>
          </a:xfrm>
          <a:prstGeom prst="rect">
            <a:avLst/>
          </a:prstGeom>
          <a:noFill/>
        </p:spPr>
        <p:txBody>
          <a:bodyPr wrap="square">
            <a:spAutoFit/>
          </a:bodyPr>
          <a:lstStyle/>
          <a:p>
            <a:pPr>
              <a:spcAft>
                <a:spcPts val="1200"/>
              </a:spcAft>
              <a:defRPr sz="1800" b="1">
                <a:solidFill>
                  <a:srgbClr val="38BDF8"/>
                </a:solidFill>
              </a:defRPr>
            </a:pPr>
            <a:r>
              <a:t>Leaking Pipeline</a:t>
            </a:r>
          </a:p>
          <a:p>
            <a:pPr>
              <a:spcAft>
                <a:spcPts val="800"/>
              </a:spcAft>
              <a:defRPr sz="1300">
                <a:solidFill>
                  <a:srgbClr val="F8FAFC"/>
                </a:solidFill>
              </a:defRPr>
            </a:pPr>
            <a:r>
              <a:t>•  No structured follow-up cadence when prospects go silent.</a:t>
            </a:r>
          </a:p>
          <a:p>
            <a:pPr>
              <a:spcAft>
                <a:spcPts val="800"/>
              </a:spcAft>
              <a:defRPr sz="1300">
                <a:solidFill>
                  <a:srgbClr val="F8FAFC"/>
                </a:solidFill>
              </a:defRPr>
            </a:pPr>
            <a:r>
              <a:t>•  Zero sentiment analysis on incoming email replies.</a:t>
            </a:r>
          </a:p>
          <a:p>
            <a:pPr>
              <a:spcAft>
                <a:spcPts val="800"/>
              </a:spcAft>
              <a:defRPr sz="1300">
                <a:solidFill>
                  <a:srgbClr val="F8FAFC"/>
                </a:solidFill>
              </a:defRPr>
            </a:pPr>
            <a:r>
              <a:t>•  Warm prospects slip through cracks due to fragmented handoffs.</a:t>
            </a:r>
          </a:p>
          <a:p>
            <a:pPr>
              <a:spcAft>
                <a:spcPts val="800"/>
              </a:spcAft>
              <a:defRPr sz="1300">
                <a:solidFill>
                  <a:srgbClr val="F8FAFC"/>
                </a:solidFill>
              </a:defRPr>
            </a:pPr>
            <a:r>
              <a:t>•  Manual CRM data entry creates operational blind spots.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COLLEGE PROJECT • ASSIGNMENT 07</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defRPr>
            </a:pPr>
            <a:r>
              <a:t>Project Objective: Controlled Autonomous Lead Operations</a:t>
            </a:r>
          </a:p>
        </p:txBody>
      </p:sp>
      <p:sp>
        <p:nvSpPr>
          <p:cNvPr id="5" name="Rounded Rectangle 4"/>
          <p:cNvSpPr/>
          <p:nvPr/>
        </p:nvSpPr>
        <p:spPr>
          <a:xfrm>
            <a:off x="731520" y="1645920"/>
            <a:ext cx="5120640" cy="4389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023360"/>
          </a:xfrm>
          <a:prstGeom prst="rect">
            <a:avLst/>
          </a:prstGeom>
          <a:noFill/>
        </p:spPr>
        <p:txBody>
          <a:bodyPr wrap="square">
            <a:spAutoFit/>
          </a:bodyPr>
          <a:lstStyle/>
          <a:p>
            <a:pPr>
              <a:spcAft>
                <a:spcPts val="1200"/>
              </a:spcAft>
              <a:defRPr sz="1800" b="1">
                <a:solidFill>
                  <a:srgbClr val="38BDF8"/>
                </a:solidFill>
              </a:defRPr>
            </a:pPr>
            <a:r>
              <a:t>Core System Goals</a:t>
            </a:r>
          </a:p>
          <a:p>
            <a:pPr>
              <a:spcAft>
                <a:spcPts val="800"/>
              </a:spcAft>
              <a:defRPr sz="1300">
                <a:solidFill>
                  <a:srgbClr val="F8FAFC"/>
                </a:solidFill>
              </a:defRPr>
            </a:pPr>
            <a:r>
              <a:t>•  Autonomous Lead Ingestion: Capture from forms, webhooks, or CSV.</a:t>
            </a:r>
          </a:p>
          <a:p>
            <a:pPr>
              <a:spcAft>
                <a:spcPts val="800"/>
              </a:spcAft>
              <a:defRPr sz="1300">
                <a:solidFill>
                  <a:srgbClr val="F8FAFC"/>
                </a:solidFill>
              </a:defRPr>
            </a:pPr>
            <a:r>
              <a:t>•  Data Normalization: Sanitize inputs, enforce email syntax, detect gaps.</a:t>
            </a:r>
          </a:p>
          <a:p>
            <a:pPr>
              <a:spcAft>
                <a:spcPts val="800"/>
              </a:spcAft>
              <a:defRPr sz="1300">
                <a:solidFill>
                  <a:srgbClr val="F8FAFC"/>
                </a:solidFill>
              </a:defRPr>
            </a:pPr>
            <a:r>
              <a:t>•  0–100 AI Lead Scoring: Objective scoring based on ICP criteria.</a:t>
            </a:r>
          </a:p>
          <a:p>
            <a:pPr>
              <a:spcAft>
                <a:spcPts val="800"/>
              </a:spcAft>
              <a:defRPr sz="1300">
                <a:solidFill>
                  <a:srgbClr val="F8FAFC"/>
                </a:solidFill>
              </a:defRPr>
            </a:pPr>
            <a:r>
              <a:t>•  Zero-Hallucination Grounding: Strict use of 'Unknown' for missing data.</a:t>
            </a:r>
          </a:p>
          <a:p>
            <a:pPr>
              <a:spcAft>
                <a:spcPts val="800"/>
              </a:spcAft>
              <a:defRPr sz="1300">
                <a:solidFill>
                  <a:srgbClr val="F8FAFC"/>
                </a:solidFill>
              </a:defRPr>
            </a:pPr>
            <a:r>
              <a:t>•  Batch Looping: Process leads individually with custom routing.</a:t>
            </a:r>
          </a:p>
        </p:txBody>
      </p:sp>
      <p:sp>
        <p:nvSpPr>
          <p:cNvPr id="7" name="Rounded Rectangle 6"/>
          <p:cNvSpPr/>
          <p:nvPr/>
        </p:nvSpPr>
        <p:spPr>
          <a:xfrm>
            <a:off x="6217920" y="1645920"/>
            <a:ext cx="512064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754880" cy="4023360"/>
          </a:xfrm>
          <a:prstGeom prst="rect">
            <a:avLst/>
          </a:prstGeom>
          <a:noFill/>
        </p:spPr>
        <p:txBody>
          <a:bodyPr wrap="square">
            <a:spAutoFit/>
          </a:bodyPr>
          <a:lstStyle/>
          <a:p>
            <a:pPr>
              <a:spcAft>
                <a:spcPts val="1200"/>
              </a:spcAft>
              <a:defRPr sz="1800" b="1">
                <a:solidFill>
                  <a:srgbClr val="38BDF8"/>
                </a:solidFill>
              </a:defRPr>
            </a:pPr>
            <a:r>
              <a:t>Outreach &amp; Governance</a:t>
            </a:r>
          </a:p>
          <a:p>
            <a:pPr>
              <a:spcAft>
                <a:spcPts val="800"/>
              </a:spcAft>
              <a:defRPr sz="1300">
                <a:solidFill>
                  <a:srgbClr val="F8FAFC"/>
                </a:solidFill>
              </a:defRPr>
            </a:pPr>
            <a:r>
              <a:t>•  Personalized Email Generation: Grounded in pain points and job roles.</a:t>
            </a:r>
          </a:p>
          <a:p>
            <a:pPr>
              <a:spcAft>
                <a:spcPts val="800"/>
              </a:spcAft>
              <a:defRPr sz="1300">
                <a:solidFill>
                  <a:srgbClr val="F8FAFC"/>
                </a:solidFill>
              </a:defRPr>
            </a:pPr>
            <a:r>
              <a:t>•  Human-in-the-Loop Gateway: Mandatory approval to prevent spam.</a:t>
            </a:r>
          </a:p>
          <a:p>
            <a:pPr>
              <a:spcAft>
                <a:spcPts val="800"/>
              </a:spcAft>
              <a:defRPr sz="1300">
                <a:solidFill>
                  <a:srgbClr val="F8FAFC"/>
                </a:solidFill>
              </a:defRPr>
            </a:pPr>
            <a:r>
              <a:t>•  Multi-Tier Follow-up Cadence: Automated Follow-up #1, #2, and cold marking.</a:t>
            </a:r>
          </a:p>
          <a:p>
            <a:pPr>
              <a:spcAft>
                <a:spcPts val="800"/>
              </a:spcAft>
              <a:defRPr sz="1300">
                <a:solidFill>
                  <a:srgbClr val="F8FAFC"/>
                </a:solidFill>
              </a:defRPr>
            </a:pPr>
            <a:r>
              <a:t>•  AI Sentiment Analysis: Classify replies as Interested, Not Interested, or Unclear.</a:t>
            </a:r>
          </a:p>
          <a:p>
            <a:pPr>
              <a:spcAft>
                <a:spcPts val="800"/>
              </a:spcAft>
              <a:defRPr sz="1300">
                <a:solidFill>
                  <a:srgbClr val="F8FAFC"/>
                </a:solidFill>
              </a:defRPr>
            </a:pPr>
            <a:r>
              <a:t>•  Sales Handoff Dossier: Seamless escalation to account executives.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COLLEGE PROJECT • ASSIGNMENT 07</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defRPr>
            </a:pPr>
            <a:r>
              <a:t>System Architecture: End-to-End Workflow Pipeline</a:t>
            </a:r>
          </a:p>
        </p:txBody>
      </p:sp>
      <p:sp>
        <p:nvSpPr>
          <p:cNvPr id="5" name="Rounded Rectangle 4"/>
          <p:cNvSpPr/>
          <p:nvPr/>
        </p:nvSpPr>
        <p:spPr>
          <a:xfrm>
            <a:off x="731520" y="1645920"/>
            <a:ext cx="251460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148840" cy="4023360"/>
          </a:xfrm>
          <a:prstGeom prst="rect">
            <a:avLst/>
          </a:prstGeom>
          <a:noFill/>
        </p:spPr>
        <p:txBody>
          <a:bodyPr wrap="square">
            <a:spAutoFit/>
          </a:bodyPr>
          <a:lstStyle/>
          <a:p>
            <a:pPr>
              <a:spcAft>
                <a:spcPts val="1200"/>
              </a:spcAft>
              <a:defRPr sz="1800" b="1">
                <a:solidFill>
                  <a:srgbClr val="38BDF8"/>
                </a:solidFill>
              </a:defRPr>
            </a:pPr>
            <a:r>
              <a:t>1. Ingestion</a:t>
            </a:r>
          </a:p>
          <a:p>
            <a:pPr>
              <a:spcAft>
                <a:spcPts val="800"/>
              </a:spcAft>
              <a:defRPr sz="1300">
                <a:solidFill>
                  <a:srgbClr val="F8FAFC"/>
                </a:solidFill>
              </a:defRPr>
            </a:pPr>
            <a:r>
              <a:t>•  Form / Webhook / CSV</a:t>
            </a:r>
          </a:p>
          <a:p>
            <a:pPr>
              <a:spcAft>
                <a:spcPts val="800"/>
              </a:spcAft>
              <a:defRPr sz="1300">
                <a:solidFill>
                  <a:srgbClr val="F8FAFC"/>
                </a:solidFill>
              </a:defRPr>
            </a:pPr>
            <a:r>
              <a:t>•  Normalize 13 fields</a:t>
            </a:r>
          </a:p>
          <a:p>
            <a:pPr>
              <a:spcAft>
                <a:spcPts val="800"/>
              </a:spcAft>
              <a:defRPr sz="1300">
                <a:solidFill>
                  <a:srgbClr val="F8FAFC"/>
                </a:solidFill>
              </a:defRPr>
            </a:pPr>
            <a:r>
              <a:t>•  Validate name/email/role</a:t>
            </a:r>
          </a:p>
          <a:p>
            <a:pPr>
              <a:spcAft>
                <a:spcPts val="800"/>
              </a:spcAft>
              <a:defRPr sz="1300">
                <a:solidFill>
                  <a:srgbClr val="F8FAFC"/>
                </a:solidFill>
              </a:defRPr>
            </a:pPr>
            <a:r>
              <a:t>•  Save to Data Table (Lead_Records)</a:t>
            </a:r>
          </a:p>
        </p:txBody>
      </p:sp>
      <p:sp>
        <p:nvSpPr>
          <p:cNvPr id="7" name="Rounded Rectangle 6"/>
          <p:cNvSpPr/>
          <p:nvPr/>
        </p:nvSpPr>
        <p:spPr>
          <a:xfrm>
            <a:off x="3429000" y="1645920"/>
            <a:ext cx="251460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828800"/>
            <a:ext cx="2148840" cy="4023360"/>
          </a:xfrm>
          <a:prstGeom prst="rect">
            <a:avLst/>
          </a:prstGeom>
          <a:noFill/>
        </p:spPr>
        <p:txBody>
          <a:bodyPr wrap="square">
            <a:spAutoFit/>
          </a:bodyPr>
          <a:lstStyle/>
          <a:p>
            <a:pPr>
              <a:spcAft>
                <a:spcPts val="1200"/>
              </a:spcAft>
              <a:defRPr sz="1800" b="1">
                <a:solidFill>
                  <a:srgbClr val="38BDF8"/>
                </a:solidFill>
              </a:defRPr>
            </a:pPr>
            <a:r>
              <a:t>2. AI Scoring</a:t>
            </a:r>
          </a:p>
          <a:p>
            <a:pPr>
              <a:spcAft>
                <a:spcPts val="800"/>
              </a:spcAft>
              <a:defRPr sz="1300">
                <a:solidFill>
                  <a:srgbClr val="F8FAFC"/>
                </a:solidFill>
              </a:defRPr>
            </a:pPr>
            <a:r>
              <a:t>•  Loop Over Items (Batch=1)</a:t>
            </a:r>
          </a:p>
          <a:p>
            <a:pPr>
              <a:spcAft>
                <a:spcPts val="800"/>
              </a:spcAft>
              <a:defRPr sz="1300">
                <a:solidFill>
                  <a:srgbClr val="F8FAFC"/>
                </a:solidFill>
              </a:defRPr>
            </a:pPr>
            <a:r>
              <a:t>•  Groq Llama 3.3 HTTP Step</a:t>
            </a:r>
          </a:p>
          <a:p>
            <a:pPr>
              <a:spcAft>
                <a:spcPts val="800"/>
              </a:spcAft>
              <a:defRPr sz="1300">
                <a:solidFill>
                  <a:srgbClr val="F8FAFC"/>
                </a:solidFill>
              </a:defRPr>
            </a:pPr>
            <a:r>
              <a:t>•  0-100 Scoring Rubric</a:t>
            </a:r>
          </a:p>
          <a:p>
            <a:pPr>
              <a:spcAft>
                <a:spcPts val="800"/>
              </a:spcAft>
              <a:defRPr sz="1300">
                <a:solidFill>
                  <a:srgbClr val="F8FAFC"/>
                </a:solidFill>
              </a:defRPr>
            </a:pPr>
            <a:r>
              <a:t>•  IF: Qualified Split</a:t>
            </a:r>
          </a:p>
        </p:txBody>
      </p:sp>
      <p:sp>
        <p:nvSpPr>
          <p:cNvPr id="9" name="Rounded Rectangle 8"/>
          <p:cNvSpPr/>
          <p:nvPr/>
        </p:nvSpPr>
        <p:spPr>
          <a:xfrm>
            <a:off x="6126480" y="1645920"/>
            <a:ext cx="251460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828800"/>
            <a:ext cx="2148840" cy="4023360"/>
          </a:xfrm>
          <a:prstGeom prst="rect">
            <a:avLst/>
          </a:prstGeom>
          <a:noFill/>
        </p:spPr>
        <p:txBody>
          <a:bodyPr wrap="square">
            <a:spAutoFit/>
          </a:bodyPr>
          <a:lstStyle/>
          <a:p>
            <a:pPr>
              <a:spcAft>
                <a:spcPts val="1200"/>
              </a:spcAft>
              <a:defRPr sz="1800" b="1">
                <a:solidFill>
                  <a:srgbClr val="38BDF8"/>
                </a:solidFill>
              </a:defRPr>
            </a:pPr>
            <a:r>
              <a:t>3. Approval &amp; Prep</a:t>
            </a:r>
          </a:p>
          <a:p>
            <a:pPr>
              <a:spcAft>
                <a:spcPts val="800"/>
              </a:spcAft>
              <a:defRPr sz="1300">
                <a:solidFill>
                  <a:srgbClr val="F8FAFC"/>
                </a:solidFill>
              </a:defRPr>
            </a:pPr>
            <a:r>
              <a:t>•  Personalized Draft</a:t>
            </a:r>
          </a:p>
          <a:p>
            <a:pPr>
              <a:spcAft>
                <a:spcPts val="800"/>
              </a:spcAft>
              <a:defRPr sz="1300">
                <a:solidFill>
                  <a:srgbClr val="F8FAFC"/>
                </a:solidFill>
              </a:defRPr>
            </a:pPr>
            <a:r>
              <a:t>•  Human Approval Gateway</a:t>
            </a:r>
          </a:p>
          <a:p>
            <a:pPr>
              <a:spcAft>
                <a:spcPts val="800"/>
              </a:spcAft>
              <a:defRPr sz="1300">
                <a:solidFill>
                  <a:srgbClr val="F8FAFC"/>
                </a:solidFill>
              </a:defRPr>
            </a:pPr>
            <a:r>
              <a:t>•  Approve vs Reject</a:t>
            </a:r>
          </a:p>
          <a:p>
            <a:pPr>
              <a:spcAft>
                <a:spcPts val="800"/>
              </a:spcAft>
              <a:defRPr sz="1300">
                <a:solidFill>
                  <a:srgbClr val="F8FAFC"/>
                </a:solidFill>
              </a:defRPr>
            </a:pPr>
            <a:r>
              <a:t>•  Outreach Prepared (Safe Mode)</a:t>
            </a:r>
          </a:p>
        </p:txBody>
      </p:sp>
      <p:sp>
        <p:nvSpPr>
          <p:cNvPr id="11" name="Rounded Rectangle 10"/>
          <p:cNvSpPr/>
          <p:nvPr/>
        </p:nvSpPr>
        <p:spPr>
          <a:xfrm>
            <a:off x="8823960" y="1645920"/>
            <a:ext cx="251460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06840" y="1828800"/>
            <a:ext cx="2148840" cy="4023360"/>
          </a:xfrm>
          <a:prstGeom prst="rect">
            <a:avLst/>
          </a:prstGeom>
          <a:noFill/>
        </p:spPr>
        <p:txBody>
          <a:bodyPr wrap="square">
            <a:spAutoFit/>
          </a:bodyPr>
          <a:lstStyle/>
          <a:p>
            <a:pPr>
              <a:spcAft>
                <a:spcPts val="1200"/>
              </a:spcAft>
              <a:defRPr sz="1800" b="1">
                <a:solidFill>
                  <a:srgbClr val="38BDF8"/>
                </a:solidFill>
              </a:defRPr>
            </a:pPr>
            <a:r>
              <a:t>4. Lifecycle</a:t>
            </a:r>
          </a:p>
          <a:p>
            <a:pPr>
              <a:spcAft>
                <a:spcPts val="800"/>
              </a:spcAft>
              <a:defRPr sz="1300">
                <a:solidFill>
                  <a:srgbClr val="F8FAFC"/>
                </a:solidFill>
              </a:defRPr>
            </a:pPr>
            <a:r>
              <a:t>•  Track Response Status</a:t>
            </a:r>
          </a:p>
          <a:p>
            <a:pPr>
              <a:spcAft>
                <a:spcPts val="800"/>
              </a:spcAft>
              <a:defRPr sz="1300">
                <a:solidFill>
                  <a:srgbClr val="F8FAFC"/>
                </a:solidFill>
              </a:defRPr>
            </a:pPr>
            <a:r>
              <a:t>•  Follow-up #1 &amp; #2 Cadence</a:t>
            </a:r>
          </a:p>
          <a:p>
            <a:pPr>
              <a:spcAft>
                <a:spcPts val="800"/>
              </a:spcAft>
              <a:defRPr sz="1300">
                <a:solidFill>
                  <a:srgbClr val="F8FAFC"/>
                </a:solidFill>
              </a:defRPr>
            </a:pPr>
            <a:r>
              <a:t>•  AI Response Sentiment</a:t>
            </a:r>
          </a:p>
          <a:p>
            <a:pPr>
              <a:spcAft>
                <a:spcPts val="800"/>
              </a:spcAft>
              <a:defRPr sz="1300">
                <a:solidFill>
                  <a:srgbClr val="F8FAFC"/>
                </a:solidFill>
              </a:defRPr>
            </a:pPr>
            <a:r>
              <a:t>•  Sales Handoff Dossier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COLLEGE PROJECT • ASSIGNMENT 07</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defRPr>
            </a:pPr>
            <a:r>
              <a:t>Technology Stack: Low-Code Automation &amp; High-Speed AI</a:t>
            </a:r>
          </a:p>
        </p:txBody>
      </p:sp>
      <p:sp>
        <p:nvSpPr>
          <p:cNvPr id="5" name="Rounded Rectangle 4"/>
          <p:cNvSpPr/>
          <p:nvPr/>
        </p:nvSpPr>
        <p:spPr>
          <a:xfrm>
            <a:off x="731520" y="1645920"/>
            <a:ext cx="251460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148840" cy="4023360"/>
          </a:xfrm>
          <a:prstGeom prst="rect">
            <a:avLst/>
          </a:prstGeom>
          <a:noFill/>
        </p:spPr>
        <p:txBody>
          <a:bodyPr wrap="square">
            <a:spAutoFit/>
          </a:bodyPr>
          <a:lstStyle/>
          <a:p>
            <a:pPr>
              <a:spcAft>
                <a:spcPts val="1200"/>
              </a:spcAft>
              <a:defRPr sz="1800" b="1">
                <a:solidFill>
                  <a:srgbClr val="38BDF8"/>
                </a:solidFill>
              </a:defRPr>
            </a:pPr>
            <a:r>
              <a:t>n8n Orchestration</a:t>
            </a:r>
          </a:p>
          <a:p>
            <a:pPr>
              <a:spcAft>
                <a:spcPts val="800"/>
              </a:spcAft>
              <a:defRPr sz="1300">
                <a:solidFill>
                  <a:srgbClr val="F8FAFC"/>
                </a:solidFill>
              </a:defRPr>
            </a:pPr>
            <a:r>
              <a:t>•  Open-source workflow engine</a:t>
            </a:r>
          </a:p>
          <a:p>
            <a:pPr>
              <a:spcAft>
                <a:spcPts val="800"/>
              </a:spcAft>
              <a:defRPr sz="1300">
                <a:solidFill>
                  <a:srgbClr val="F8FAFC"/>
                </a:solidFill>
              </a:defRPr>
            </a:pPr>
            <a:r>
              <a:t>•  Native Loop Over Items node</a:t>
            </a:r>
          </a:p>
          <a:p>
            <a:pPr>
              <a:spcAft>
                <a:spcPts val="800"/>
              </a:spcAft>
              <a:defRPr sz="1300">
                <a:solidFill>
                  <a:srgbClr val="F8FAFC"/>
                </a:solidFill>
              </a:defRPr>
            </a:pPr>
            <a:r>
              <a:t>•  Flexible Webhook &amp; Form triggers</a:t>
            </a:r>
          </a:p>
          <a:p>
            <a:pPr>
              <a:spcAft>
                <a:spcPts val="800"/>
              </a:spcAft>
              <a:defRPr sz="1300">
                <a:solidFill>
                  <a:srgbClr val="F8FAFC"/>
                </a:solidFill>
              </a:defRPr>
            </a:pPr>
            <a:r>
              <a:t>•  Visual branching &amp; error handling</a:t>
            </a:r>
          </a:p>
        </p:txBody>
      </p:sp>
      <p:sp>
        <p:nvSpPr>
          <p:cNvPr id="7" name="Rounded Rectangle 6"/>
          <p:cNvSpPr/>
          <p:nvPr/>
        </p:nvSpPr>
        <p:spPr>
          <a:xfrm>
            <a:off x="3429000" y="1645920"/>
            <a:ext cx="251460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828800"/>
            <a:ext cx="2148840" cy="4023360"/>
          </a:xfrm>
          <a:prstGeom prst="rect">
            <a:avLst/>
          </a:prstGeom>
          <a:noFill/>
        </p:spPr>
        <p:txBody>
          <a:bodyPr wrap="square">
            <a:spAutoFit/>
          </a:bodyPr>
          <a:lstStyle/>
          <a:p>
            <a:pPr>
              <a:spcAft>
                <a:spcPts val="1200"/>
              </a:spcAft>
              <a:defRPr sz="1800" b="1">
                <a:solidFill>
                  <a:srgbClr val="38BDF8"/>
                </a:solidFill>
              </a:defRPr>
            </a:pPr>
            <a:r>
              <a:t>Groq AI Step</a:t>
            </a:r>
          </a:p>
          <a:p>
            <a:pPr>
              <a:spcAft>
                <a:spcPts val="800"/>
              </a:spcAft>
              <a:defRPr sz="1300">
                <a:solidFill>
                  <a:srgbClr val="F8FAFC"/>
                </a:solidFill>
              </a:defRPr>
            </a:pPr>
            <a:r>
              <a:t>•  Llama 3.3 70B Versatile</a:t>
            </a:r>
          </a:p>
          <a:p>
            <a:pPr>
              <a:spcAft>
                <a:spcPts val="800"/>
              </a:spcAft>
              <a:defRPr sz="1300">
                <a:solidFill>
                  <a:srgbClr val="F8FAFC"/>
                </a:solidFill>
              </a:defRPr>
            </a:pPr>
            <a:r>
              <a:t>•  Ultra-low latency (&lt; 800ms)</a:t>
            </a:r>
          </a:p>
          <a:p>
            <a:pPr>
              <a:spcAft>
                <a:spcPts val="800"/>
              </a:spcAft>
              <a:defRPr sz="1300">
                <a:solidFill>
                  <a:srgbClr val="F8FAFC"/>
                </a:solidFill>
              </a:defRPr>
            </a:pPr>
            <a:r>
              <a:t>•  JSON Structured Output enforcement</a:t>
            </a:r>
          </a:p>
          <a:p>
            <a:pPr>
              <a:spcAft>
                <a:spcPts val="800"/>
              </a:spcAft>
              <a:defRPr sz="1300">
                <a:solidFill>
                  <a:srgbClr val="F8FAFC"/>
                </a:solidFill>
              </a:defRPr>
            </a:pPr>
            <a:r>
              <a:t>•  Deterministic ICP qualification</a:t>
            </a:r>
          </a:p>
        </p:txBody>
      </p:sp>
      <p:sp>
        <p:nvSpPr>
          <p:cNvPr id="9" name="Rounded Rectangle 8"/>
          <p:cNvSpPr/>
          <p:nvPr/>
        </p:nvSpPr>
        <p:spPr>
          <a:xfrm>
            <a:off x="6126480" y="1645920"/>
            <a:ext cx="251460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828800"/>
            <a:ext cx="2148840" cy="4023360"/>
          </a:xfrm>
          <a:prstGeom prst="rect">
            <a:avLst/>
          </a:prstGeom>
          <a:noFill/>
        </p:spPr>
        <p:txBody>
          <a:bodyPr wrap="square">
            <a:spAutoFit/>
          </a:bodyPr>
          <a:lstStyle/>
          <a:p>
            <a:pPr>
              <a:spcAft>
                <a:spcPts val="1200"/>
              </a:spcAft>
              <a:defRPr sz="1800" b="1">
                <a:solidFill>
                  <a:srgbClr val="38BDF8"/>
                </a:solidFill>
              </a:defRPr>
            </a:pPr>
            <a:r>
              <a:t>n8n Data Table</a:t>
            </a:r>
          </a:p>
          <a:p>
            <a:pPr>
              <a:spcAft>
                <a:spcPts val="800"/>
              </a:spcAft>
              <a:defRPr sz="1300">
                <a:solidFill>
                  <a:srgbClr val="F8FAFC"/>
                </a:solidFill>
              </a:defRPr>
            </a:pPr>
            <a:r>
              <a:t>•  Persistent 'Lead_Records' table</a:t>
            </a:r>
          </a:p>
          <a:p>
            <a:pPr>
              <a:spcAft>
                <a:spcPts val="800"/>
              </a:spcAft>
              <a:defRPr sz="1300">
                <a:solidFill>
                  <a:srgbClr val="F8FAFC"/>
                </a:solidFill>
              </a:defRPr>
            </a:pPr>
            <a:r>
              <a:t>•  Upsert operations at each stage</a:t>
            </a:r>
          </a:p>
          <a:p>
            <a:pPr>
              <a:spcAft>
                <a:spcPts val="800"/>
              </a:spcAft>
              <a:defRPr sz="1300">
                <a:solidFill>
                  <a:srgbClr val="F8FAFC"/>
                </a:solidFill>
              </a:defRPr>
            </a:pPr>
            <a:r>
              <a:t>•  Stores 26 lifecycle columns</a:t>
            </a:r>
          </a:p>
          <a:p>
            <a:pPr>
              <a:spcAft>
                <a:spcPts val="800"/>
              </a:spcAft>
              <a:defRPr sz="1300">
                <a:solidFill>
                  <a:srgbClr val="F8FAFC"/>
                </a:solidFill>
              </a:defRPr>
            </a:pPr>
            <a:r>
              <a:t>•  Audit log of all AI evaluations</a:t>
            </a:r>
          </a:p>
        </p:txBody>
      </p:sp>
      <p:sp>
        <p:nvSpPr>
          <p:cNvPr id="11" name="Rounded Rectangle 10"/>
          <p:cNvSpPr/>
          <p:nvPr/>
        </p:nvSpPr>
        <p:spPr>
          <a:xfrm>
            <a:off x="8823960" y="1645920"/>
            <a:ext cx="251460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06840" y="1828800"/>
            <a:ext cx="2148840" cy="4023360"/>
          </a:xfrm>
          <a:prstGeom prst="rect">
            <a:avLst/>
          </a:prstGeom>
          <a:noFill/>
        </p:spPr>
        <p:txBody>
          <a:bodyPr wrap="square">
            <a:spAutoFit/>
          </a:bodyPr>
          <a:lstStyle/>
          <a:p>
            <a:pPr>
              <a:spcAft>
                <a:spcPts val="1200"/>
              </a:spcAft>
              <a:defRPr sz="1800" b="1">
                <a:solidFill>
                  <a:srgbClr val="38BDF8"/>
                </a:solidFill>
              </a:defRPr>
            </a:pPr>
            <a:r>
              <a:t>Automated Tests</a:t>
            </a:r>
          </a:p>
          <a:p>
            <a:pPr>
              <a:spcAft>
                <a:spcPts val="800"/>
              </a:spcAft>
              <a:defRPr sz="1300">
                <a:solidFill>
                  <a:srgbClr val="F8FAFC"/>
                </a:solidFill>
              </a:defRPr>
            </a:pPr>
            <a:r>
              <a:t>•  Dual Python &amp; Node.js runners</a:t>
            </a:r>
          </a:p>
          <a:p>
            <a:pPr>
              <a:spcAft>
                <a:spcPts val="800"/>
              </a:spcAft>
              <a:defRPr sz="1300">
                <a:solidFill>
                  <a:srgbClr val="F8FAFC"/>
                </a:solidFill>
              </a:defRPr>
            </a:pPr>
            <a:r>
              <a:t>•  7 deterministic scenario tests</a:t>
            </a:r>
          </a:p>
          <a:p>
            <a:pPr>
              <a:spcAft>
                <a:spcPts val="800"/>
              </a:spcAft>
              <a:defRPr sz="1300">
                <a:solidFill>
                  <a:srgbClr val="F8FAFC"/>
                </a:solidFill>
              </a:defRPr>
            </a:pPr>
            <a:r>
              <a:t>•  Automated workflow-logic verification</a:t>
            </a:r>
          </a:p>
          <a:p>
            <a:pPr>
              <a:spcAft>
                <a:spcPts val="800"/>
              </a:spcAft>
              <a:defRPr sz="1300">
                <a:solidFill>
                  <a:srgbClr val="F8FAFC"/>
                </a:solidFill>
              </a:defRPr>
            </a:pPr>
            <a:r>
              <a:t>•  Automated deck &amp; report generation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COLLEGE PROJECT • ASSIGNMENT 07</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defRPr>
            </a:pPr>
            <a:r>
              <a:t>Data Normalization: Strict Hygiene &amp; Zero Hallucination</a:t>
            </a:r>
          </a:p>
        </p:txBody>
      </p:sp>
      <p:sp>
        <p:nvSpPr>
          <p:cNvPr id="5" name="Rounded Rectangle 4"/>
          <p:cNvSpPr/>
          <p:nvPr/>
        </p:nvSpPr>
        <p:spPr>
          <a:xfrm>
            <a:off x="731520" y="1645920"/>
            <a:ext cx="512064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023360"/>
          </a:xfrm>
          <a:prstGeom prst="rect">
            <a:avLst/>
          </a:prstGeom>
          <a:noFill/>
        </p:spPr>
        <p:txBody>
          <a:bodyPr wrap="square">
            <a:spAutoFit/>
          </a:bodyPr>
          <a:lstStyle/>
          <a:p>
            <a:pPr>
              <a:spcAft>
                <a:spcPts val="1200"/>
              </a:spcAft>
              <a:defRPr sz="1800" b="1">
                <a:solidFill>
                  <a:srgbClr val="38BDF8"/>
                </a:solidFill>
              </a:defRPr>
            </a:pPr>
            <a:r>
              <a:t>Standardized Schema (13 Fields)</a:t>
            </a:r>
          </a:p>
          <a:p>
            <a:pPr>
              <a:spcAft>
                <a:spcPts val="800"/>
              </a:spcAft>
              <a:defRPr sz="1300">
                <a:solidFill>
                  <a:srgbClr val="F8FAFC"/>
                </a:solidFill>
              </a:defRPr>
            </a:pPr>
            <a:r>
              <a:t>•  lead_name: Cleaned prospect name.</a:t>
            </a:r>
          </a:p>
          <a:p>
            <a:pPr>
              <a:spcAft>
                <a:spcPts val="800"/>
              </a:spcAft>
              <a:defRPr sz="1300">
                <a:solidFill>
                  <a:srgbClr val="F8FAFC"/>
                </a:solidFill>
              </a:defRPr>
            </a:pPr>
            <a:r>
              <a:t>•  email: Lowercased, verified via RFC 5322 regex.</a:t>
            </a:r>
          </a:p>
          <a:p>
            <a:pPr>
              <a:spcAft>
                <a:spcPts val="800"/>
              </a:spcAft>
              <a:defRPr sz="1300">
                <a:solidFill>
                  <a:srgbClr val="F8FAFC"/>
                </a:solidFill>
              </a:defRPr>
            </a:pPr>
            <a:r>
              <a:t>•  phone, job_title, company, industry: Firmographics.</a:t>
            </a:r>
          </a:p>
          <a:p>
            <a:pPr>
              <a:spcAft>
                <a:spcPts val="800"/>
              </a:spcAft>
              <a:defRPr sz="1300">
                <a:solidFill>
                  <a:srgbClr val="F8FAFC"/>
                </a:solidFill>
              </a:defRPr>
            </a:pPr>
            <a:r>
              <a:t>•  company_size, location, website: Profile completeness.</a:t>
            </a:r>
          </a:p>
          <a:p>
            <a:pPr>
              <a:spcAft>
                <a:spcPts val="800"/>
              </a:spcAft>
              <a:defRPr sz="1300">
                <a:solidFill>
                  <a:srgbClr val="F8FAFC"/>
                </a:solidFill>
              </a:defRPr>
            </a:pPr>
            <a:r>
              <a:t>•  pain_point: Explicit business challenge.</a:t>
            </a:r>
          </a:p>
          <a:p>
            <a:pPr>
              <a:spcAft>
                <a:spcPts val="800"/>
              </a:spcAft>
              <a:defRPr sz="1300">
                <a:solidFill>
                  <a:srgbClr val="F8FAFC"/>
                </a:solidFill>
              </a:defRPr>
            </a:pPr>
            <a:r>
              <a:t>•  buying_signal: Budget, timeline, or RFP status.</a:t>
            </a:r>
          </a:p>
          <a:p>
            <a:pPr>
              <a:spcAft>
                <a:spcPts val="800"/>
              </a:spcAft>
              <a:defRPr sz="1300">
                <a:solidFill>
                  <a:srgbClr val="F8FAFC"/>
                </a:solidFill>
              </a:defRPr>
            </a:pPr>
            <a:r>
              <a:t>•  source &amp; status: Inbound origin and pipeline stage.</a:t>
            </a:r>
          </a:p>
        </p:txBody>
      </p:sp>
      <p:sp>
        <p:nvSpPr>
          <p:cNvPr id="7" name="Rounded Rectangle 6"/>
          <p:cNvSpPr/>
          <p:nvPr/>
        </p:nvSpPr>
        <p:spPr>
          <a:xfrm>
            <a:off x="6217920" y="1645920"/>
            <a:ext cx="5120640" cy="4389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754880" cy="4023360"/>
          </a:xfrm>
          <a:prstGeom prst="rect">
            <a:avLst/>
          </a:prstGeom>
          <a:noFill/>
        </p:spPr>
        <p:txBody>
          <a:bodyPr wrap="square">
            <a:spAutoFit/>
          </a:bodyPr>
          <a:lstStyle/>
          <a:p>
            <a:pPr>
              <a:spcAft>
                <a:spcPts val="1200"/>
              </a:spcAft>
              <a:defRPr sz="1800" b="1">
                <a:solidFill>
                  <a:srgbClr val="38BDF8"/>
                </a:solidFill>
              </a:defRPr>
            </a:pPr>
            <a:r>
              <a:t>Validation &amp; Anti-Hallucination Rules</a:t>
            </a:r>
          </a:p>
          <a:p>
            <a:pPr>
              <a:spcAft>
                <a:spcPts val="800"/>
              </a:spcAft>
              <a:defRPr sz="1300">
                <a:solidFill>
                  <a:srgbClr val="F8FAFC"/>
                </a:solidFill>
              </a:defRPr>
            </a:pPr>
            <a:r>
              <a:t>•  Email Syntax Gate: Invalid emails routed to 'Log Invalid' branch.</a:t>
            </a:r>
          </a:p>
          <a:p>
            <a:pPr>
              <a:spcAft>
                <a:spcPts val="800"/>
              </a:spcAft>
              <a:defRPr sz="1300">
                <a:solidFill>
                  <a:srgbClr val="F8FAFC"/>
                </a:solidFill>
              </a:defRPr>
            </a:pPr>
            <a:r>
              <a:t>•  Grounding Rule: Missing fields populated as 'Unknown'—never fabricated.</a:t>
            </a:r>
          </a:p>
          <a:p>
            <a:pPr>
              <a:spcAft>
                <a:spcPts val="800"/>
              </a:spcAft>
              <a:defRPr sz="1300">
                <a:solidFill>
                  <a:srgbClr val="F8FAFC"/>
                </a:solidFill>
              </a:defRPr>
            </a:pPr>
            <a:r>
              <a:t>•  No Guessing: AI is strictly prohibited from guessing revenue, budget, or role.</a:t>
            </a:r>
          </a:p>
          <a:p>
            <a:pPr>
              <a:spcAft>
                <a:spcPts val="800"/>
              </a:spcAft>
              <a:defRPr sz="1300">
                <a:solidFill>
                  <a:srgbClr val="F8FAFC"/>
                </a:solidFill>
              </a:defRPr>
            </a:pPr>
            <a:r>
              <a:t>•  Storage: Validated leads saved to internal DB with unique IDs.</a:t>
            </a:r>
          </a:p>
          <a:p>
            <a:pPr>
              <a:spcAft>
                <a:spcPts val="800"/>
              </a:spcAft>
              <a:defRPr sz="1300">
                <a:solidFill>
                  <a:srgbClr val="F8FAFC"/>
                </a:solidFill>
              </a:defRPr>
            </a:pPr>
            <a:r>
              <a:t>•  Traceability: Timestamped logs maintained for every transformation.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COLLEGE PROJECT • ASSIGNMENT 07</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defRPr>
            </a:pPr>
            <a:r>
              <a:t>AI Qualification: 0–100 Scoring Rubric</a:t>
            </a:r>
          </a:p>
        </p:txBody>
      </p:sp>
      <p:sp>
        <p:nvSpPr>
          <p:cNvPr id="5" name="Rounded Rectangle 4"/>
          <p:cNvSpPr/>
          <p:nvPr/>
        </p:nvSpPr>
        <p:spPr>
          <a:xfrm>
            <a:off x="731520" y="1645920"/>
            <a:ext cx="5120640" cy="4389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023360"/>
          </a:xfrm>
          <a:prstGeom prst="rect">
            <a:avLst/>
          </a:prstGeom>
          <a:noFill/>
        </p:spPr>
        <p:txBody>
          <a:bodyPr wrap="square">
            <a:spAutoFit/>
          </a:bodyPr>
          <a:lstStyle/>
          <a:p>
            <a:pPr>
              <a:spcAft>
                <a:spcPts val="1200"/>
              </a:spcAft>
              <a:defRPr sz="1800" b="1">
                <a:solidFill>
                  <a:srgbClr val="38BDF8"/>
                </a:solidFill>
              </a:defRPr>
            </a:pPr>
            <a:r>
              <a:t>Scoring Factor Breakdown</a:t>
            </a:r>
          </a:p>
          <a:p>
            <a:pPr>
              <a:spcAft>
                <a:spcPts val="800"/>
              </a:spcAft>
              <a:defRPr sz="1300">
                <a:solidFill>
                  <a:srgbClr val="F8FAFC"/>
                </a:solidFill>
              </a:defRPr>
            </a:pPr>
            <a:r>
              <a:t>•  Title Relevance (0-25 pts): Senior decision-makers (VP, C-level, Founder) get max points.</a:t>
            </a:r>
          </a:p>
          <a:p>
            <a:pPr>
              <a:spcAft>
                <a:spcPts val="800"/>
              </a:spcAft>
              <a:defRPr sz="1300">
                <a:solidFill>
                  <a:srgbClr val="F8FAFC"/>
                </a:solidFill>
              </a:defRPr>
            </a:pPr>
            <a:r>
              <a:t>•  Industry Fit (0-35 pts): Enterprise SaaS, Tech, and Logistics vs low-fit retail.</a:t>
            </a:r>
          </a:p>
          <a:p>
            <a:pPr>
              <a:spcAft>
                <a:spcPts val="800"/>
              </a:spcAft>
              <a:defRPr sz="1300">
                <a:solidFill>
                  <a:srgbClr val="F8FAFC"/>
                </a:solidFill>
              </a:defRPr>
            </a:pPr>
            <a:r>
              <a:t>•  Business Need (0-15 pts): Direct match with lead qualification / triage pain points.</a:t>
            </a:r>
          </a:p>
          <a:p>
            <a:pPr>
              <a:spcAft>
                <a:spcPts val="800"/>
              </a:spcAft>
              <a:defRPr sz="1300">
                <a:solidFill>
                  <a:srgbClr val="F8FAFC"/>
                </a:solidFill>
              </a:defRPr>
            </a:pPr>
            <a:r>
              <a:t>•  Buying Signals (0-15 pts): Active RFP, allocated budget, or mandated Q3 rollout.</a:t>
            </a:r>
          </a:p>
          <a:p>
            <a:pPr>
              <a:spcAft>
                <a:spcPts val="800"/>
              </a:spcAft>
              <a:defRPr sz="1300">
                <a:solidFill>
                  <a:srgbClr val="F8FAFC"/>
                </a:solidFill>
              </a:defRPr>
            </a:pPr>
            <a:r>
              <a:t>•  Data Completeness (0-5 pts): Penalizes profiles with multiple missing fields.</a:t>
            </a:r>
          </a:p>
        </p:txBody>
      </p:sp>
      <p:sp>
        <p:nvSpPr>
          <p:cNvPr id="7" name="Rounded Rectangle 6"/>
          <p:cNvSpPr/>
          <p:nvPr/>
        </p:nvSpPr>
        <p:spPr>
          <a:xfrm>
            <a:off x="6217920" y="1645920"/>
            <a:ext cx="512064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754880" cy="4023360"/>
          </a:xfrm>
          <a:prstGeom prst="rect">
            <a:avLst/>
          </a:prstGeom>
          <a:noFill/>
        </p:spPr>
        <p:txBody>
          <a:bodyPr wrap="square">
            <a:spAutoFit/>
          </a:bodyPr>
          <a:lstStyle/>
          <a:p>
            <a:pPr>
              <a:spcAft>
                <a:spcPts val="1200"/>
              </a:spcAft>
              <a:defRPr sz="1800" b="1">
                <a:solidFill>
                  <a:srgbClr val="38BDF8"/>
                </a:solidFill>
              </a:defRPr>
            </a:pPr>
            <a:r>
              <a:t>Qualification Routing Logic</a:t>
            </a:r>
          </a:p>
          <a:p>
            <a:pPr>
              <a:spcAft>
                <a:spcPts val="800"/>
              </a:spcAft>
              <a:defRPr sz="1300">
                <a:solidFill>
                  <a:srgbClr val="F8FAFC"/>
                </a:solidFill>
              </a:defRPr>
            </a:pPr>
            <a:r>
              <a:t>•  Score &gt;= 65: QUALIFIED → Proceed to Enrichment &amp; Outreach.</a:t>
            </a:r>
          </a:p>
          <a:p>
            <a:pPr>
              <a:spcAft>
                <a:spcPts val="800"/>
              </a:spcAft>
              <a:defRPr sz="1300">
                <a:solidFill>
                  <a:srgbClr val="F8FAFC"/>
                </a:solidFill>
              </a:defRPr>
            </a:pPr>
            <a:r>
              <a:t>•  Score 40–64: NOT QUALIFIED → Route to Long-Term Nurture.</a:t>
            </a:r>
          </a:p>
          <a:p>
            <a:pPr>
              <a:spcAft>
                <a:spcPts val="800"/>
              </a:spcAft>
              <a:defRPr sz="1300">
                <a:solidFill>
                  <a:srgbClr val="F8FAFC"/>
                </a:solidFill>
              </a:defRPr>
            </a:pPr>
            <a:r>
              <a:t>•  Score &lt; 40: NOT QUALIFIED → Route to Archive.</a:t>
            </a:r>
          </a:p>
          <a:p>
            <a:pPr>
              <a:spcAft>
                <a:spcPts val="800"/>
              </a:spcAft>
              <a:defRPr sz="1300">
                <a:solidFill>
                  <a:srgbClr val="F8FAFC"/>
                </a:solidFill>
              </a:defRPr>
            </a:pPr>
            <a:r>
              <a:t>•  Transparent Reasoning: AI provides a concise bulleted explanation for every score.</a:t>
            </a:r>
          </a:p>
          <a:p>
            <a:pPr>
              <a:spcAft>
                <a:spcPts val="800"/>
              </a:spcAft>
              <a:defRPr sz="1300">
                <a:solidFill>
                  <a:srgbClr val="F8FAFC"/>
                </a:solidFill>
              </a:defRPr>
            </a:pPr>
            <a:r>
              <a:t>•  Deterministic Guardrails: Output strictly validated as JSON.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COLLEGE PROJECT • ASSIGNMENT 07</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defRPr>
            </a:pPr>
            <a:r>
              <a:t>Personalized Outreach: Relevance Without Fabrication</a:t>
            </a:r>
          </a:p>
        </p:txBody>
      </p:sp>
      <p:sp>
        <p:nvSpPr>
          <p:cNvPr id="5" name="Rounded Rectangle 4"/>
          <p:cNvSpPr/>
          <p:nvPr/>
        </p:nvSpPr>
        <p:spPr>
          <a:xfrm>
            <a:off x="731520" y="1645920"/>
            <a:ext cx="512064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023360"/>
          </a:xfrm>
          <a:prstGeom prst="rect">
            <a:avLst/>
          </a:prstGeom>
          <a:noFill/>
        </p:spPr>
        <p:txBody>
          <a:bodyPr wrap="square">
            <a:spAutoFit/>
          </a:bodyPr>
          <a:lstStyle/>
          <a:p>
            <a:pPr>
              <a:spcAft>
                <a:spcPts val="1200"/>
              </a:spcAft>
              <a:defRPr sz="1800" b="1">
                <a:solidFill>
                  <a:srgbClr val="38BDF8"/>
                </a:solidFill>
              </a:defRPr>
            </a:pPr>
            <a:r>
              <a:t>Prompt Engineering Constraints</a:t>
            </a:r>
          </a:p>
          <a:p>
            <a:pPr>
              <a:spcAft>
                <a:spcPts val="800"/>
              </a:spcAft>
              <a:defRPr sz="1300">
                <a:solidFill>
                  <a:srgbClr val="F8FAFC"/>
                </a:solidFill>
              </a:defRPr>
            </a:pPr>
            <a:r>
              <a:t>•  Factual Relevance: Outreach references ONLY stated pain points and company info.</a:t>
            </a:r>
          </a:p>
          <a:p>
            <a:pPr>
              <a:spcAft>
                <a:spcPts val="800"/>
              </a:spcAft>
              <a:defRPr sz="1300">
                <a:solidFill>
                  <a:srgbClr val="F8FAFC"/>
                </a:solidFill>
              </a:defRPr>
            </a:pPr>
            <a:r>
              <a:t>•  Zero Prior Relationship Claims: Prohibited from claiming prior phone calls or meetings.</a:t>
            </a:r>
          </a:p>
          <a:p>
            <a:pPr>
              <a:spcAft>
                <a:spcPts val="800"/>
              </a:spcAft>
              <a:defRPr sz="1300">
                <a:solidFill>
                  <a:srgbClr val="F8FAFC"/>
                </a:solidFill>
              </a:defRPr>
            </a:pPr>
            <a:r>
              <a:t>•  Dynamic Subject Line: Tailored to company growth and specific operational friction.</a:t>
            </a:r>
          </a:p>
          <a:p>
            <a:pPr>
              <a:spcAft>
                <a:spcPts val="800"/>
              </a:spcAft>
              <a:defRPr sz="1300">
                <a:solidFill>
                  <a:srgbClr val="F8FAFC"/>
                </a:solidFill>
              </a:defRPr>
            </a:pPr>
            <a:r>
              <a:t>•  Concise Body (&lt; 120 words): Clear value proposition and low-friction call-to-action.</a:t>
            </a:r>
          </a:p>
          <a:p>
            <a:pPr>
              <a:spcAft>
                <a:spcPts val="800"/>
              </a:spcAft>
              <a:defRPr sz="1300">
                <a:solidFill>
                  <a:srgbClr val="F8FAFC"/>
                </a:solidFill>
              </a:defRPr>
            </a:pPr>
            <a:r>
              <a:t>•  Personalization Summary: Generates a 1-sentence briefing for sales leadership.</a:t>
            </a:r>
          </a:p>
        </p:txBody>
      </p:sp>
      <p:sp>
        <p:nvSpPr>
          <p:cNvPr id="7" name="Rounded Rectangle 6"/>
          <p:cNvSpPr/>
          <p:nvPr/>
        </p:nvSpPr>
        <p:spPr>
          <a:xfrm>
            <a:off x="6217920" y="1645920"/>
            <a:ext cx="5120640" cy="4389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754880" cy="4023360"/>
          </a:xfrm>
          <a:prstGeom prst="rect">
            <a:avLst/>
          </a:prstGeom>
          <a:noFill/>
        </p:spPr>
        <p:txBody>
          <a:bodyPr wrap="square">
            <a:spAutoFit/>
          </a:bodyPr>
          <a:lstStyle/>
          <a:p>
            <a:pPr>
              <a:spcAft>
                <a:spcPts val="1200"/>
              </a:spcAft>
              <a:defRPr sz="1800" b="1">
                <a:solidFill>
                  <a:srgbClr val="38BDF8"/>
                </a:solidFill>
              </a:defRPr>
            </a:pPr>
            <a:r>
              <a:t>Sample Generated Draft</a:t>
            </a:r>
          </a:p>
          <a:p>
            <a:pPr>
              <a:spcAft>
                <a:spcPts val="800"/>
              </a:spcAft>
              <a:defRPr sz="1300">
                <a:solidFill>
                  <a:srgbClr val="F8FAFC"/>
                </a:solidFill>
              </a:defRPr>
            </a:pPr>
            <a:r>
              <a:t>•  Subject: Scaling CloudScale Systems's Lead Pipeline - AI Automation Strategy</a:t>
            </a:r>
          </a:p>
          <a:p>
            <a:pPr>
              <a:spcAft>
                <a:spcPts val="800"/>
              </a:spcAft>
              <a:defRPr sz="1300">
                <a:solidFill>
                  <a:srgbClr val="F8FAFC"/>
                </a:solidFill>
              </a:defRPr>
            </a:pPr>
            <a:r>
              <a:t>•  Salutation: Hi Sarah,</a:t>
            </a:r>
          </a:p>
          <a:p>
            <a:pPr>
              <a:spcAft>
                <a:spcPts val="800"/>
              </a:spcAft>
              <a:defRPr sz="1300">
                <a:solidFill>
                  <a:srgbClr val="F8FAFC"/>
                </a:solidFill>
              </a:defRPr>
            </a:pPr>
            <a:r>
              <a:t>•  Opening: I noticed CloudScale Systems is addressing slow manual lead qualification...</a:t>
            </a:r>
          </a:p>
          <a:p>
            <a:pPr>
              <a:spcAft>
                <a:spcPts val="800"/>
              </a:spcAft>
              <a:defRPr sz="1300">
                <a:solidFill>
                  <a:srgbClr val="F8FAFC"/>
                </a:solidFill>
              </a:defRPr>
            </a:pPr>
            <a:r>
              <a:t>•  Value Hook: Given your role as VP of Engineering, our AI agent cuts triage time by 80%...</a:t>
            </a:r>
          </a:p>
          <a:p>
            <a:pPr>
              <a:spcAft>
                <a:spcPts val="800"/>
              </a:spcAft>
              <a:defRPr sz="1300">
                <a:solidFill>
                  <a:srgbClr val="F8FAFC"/>
                </a:solidFill>
              </a:defRPr>
            </a:pPr>
            <a:r>
              <a:t>•  Call to Action: Open to a brief 15-minute walkthrough next Tuesday?</a:t>
            </a:r>
          </a:p>
          <a:p>
            <a:pPr>
              <a:spcAft>
                <a:spcPts val="800"/>
              </a:spcAft>
              <a:defRPr sz="1300">
                <a:solidFill>
                  <a:srgbClr val="F8FAFC"/>
                </a:solidFill>
              </a:defRPr>
            </a:pPr>
            <a:r>
              <a:t>•  Tone: Professional, consultative, and executive-ready.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COLLEGE PROJECT • ASSIGNMENT 07</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defRPr>
            </a:pPr>
            <a:r>
              <a:t>Governance: Human-in-the-Loop Gateway &amp; Safe Sending</a:t>
            </a:r>
          </a:p>
        </p:txBody>
      </p:sp>
      <p:sp>
        <p:nvSpPr>
          <p:cNvPr id="5" name="Rounded Rectangle 4"/>
          <p:cNvSpPr/>
          <p:nvPr/>
        </p:nvSpPr>
        <p:spPr>
          <a:xfrm>
            <a:off x="731520" y="1645920"/>
            <a:ext cx="5120640" cy="4389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023360"/>
          </a:xfrm>
          <a:prstGeom prst="rect">
            <a:avLst/>
          </a:prstGeom>
          <a:noFill/>
        </p:spPr>
        <p:txBody>
          <a:bodyPr wrap="square">
            <a:spAutoFit/>
          </a:bodyPr>
          <a:lstStyle/>
          <a:p>
            <a:pPr>
              <a:spcAft>
                <a:spcPts val="1200"/>
              </a:spcAft>
              <a:defRPr sz="1800" b="1">
                <a:solidFill>
                  <a:srgbClr val="38BDF8"/>
                </a:solidFill>
              </a:defRPr>
            </a:pPr>
            <a:r>
              <a:t>Native Human-in-the-Loop Gateway</a:t>
            </a:r>
          </a:p>
          <a:p>
            <a:pPr>
              <a:spcAft>
                <a:spcPts val="800"/>
              </a:spcAft>
              <a:defRPr sz="1300">
                <a:solidFill>
                  <a:srgbClr val="F8FAFC"/>
                </a:solidFill>
              </a:defRPr>
            </a:pPr>
            <a:r>
              <a:t>•  Native n8n Wait Node: Uses 'n8n-nodes-base.wait' with 'resume: form'.</a:t>
            </a:r>
          </a:p>
          <a:p>
            <a:pPr>
              <a:spcAft>
                <a:spcPts val="800"/>
              </a:spcAft>
              <a:defRPr sz="1300">
                <a:solidFill>
                  <a:srgbClr val="F8FAFC"/>
                </a:solidFill>
              </a:defRPr>
            </a:pPr>
            <a:r>
              <a:t>•  Genuinely Pauses: Workflow halts execution in 'Pending_Approval' state.</a:t>
            </a:r>
          </a:p>
          <a:p>
            <a:pPr>
              <a:spcAft>
                <a:spcPts val="800"/>
              </a:spcAft>
              <a:defRPr sz="1300">
                <a:solidFill>
                  <a:srgbClr val="F8FAFC"/>
                </a:solidFill>
              </a:defRPr>
            </a:pPr>
            <a:r>
              <a:t>•  Review Form: Exposes prospect profile, score, priority, and draft email.</a:t>
            </a:r>
          </a:p>
          <a:p>
            <a:pPr>
              <a:spcAft>
                <a:spcPts val="800"/>
              </a:spcAft>
              <a:defRPr sz="1300">
                <a:solidFill>
                  <a:srgbClr val="F8FAFC"/>
                </a:solidFill>
              </a:defRPr>
            </a:pPr>
            <a:r>
              <a:t>•  Explicit Decision: Reviewer chooses 'Approve' or 'Reject' via form UI.</a:t>
            </a:r>
          </a:p>
          <a:p>
            <a:pPr>
              <a:spcAft>
                <a:spcPts val="800"/>
              </a:spcAft>
              <a:defRPr sz="1300">
                <a:solidFill>
                  <a:srgbClr val="F8FAFC"/>
                </a:solidFill>
              </a:defRPr>
            </a:pPr>
            <a:r>
              <a:t>•  Router IF Node: 'Approve' releases to outreach; 'Reject' halts &amp; archives.</a:t>
            </a:r>
          </a:p>
          <a:p>
            <a:pPr>
              <a:spcAft>
                <a:spcPts val="800"/>
              </a:spcAft>
              <a:defRPr sz="1300">
                <a:solidFill>
                  <a:srgbClr val="F8FAFC"/>
                </a:solidFill>
              </a:defRPr>
            </a:pPr>
            <a:r>
              <a:t>•  Zero Auto-Approval: Strict barrier prevents silent or accidental dispatch.</a:t>
            </a:r>
          </a:p>
        </p:txBody>
      </p:sp>
      <p:sp>
        <p:nvSpPr>
          <p:cNvPr id="7" name="Rounded Rectangle 6"/>
          <p:cNvSpPr/>
          <p:nvPr/>
        </p:nvSpPr>
        <p:spPr>
          <a:xfrm>
            <a:off x="6217920" y="1645920"/>
            <a:ext cx="512064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754880" cy="4023360"/>
          </a:xfrm>
          <a:prstGeom prst="rect">
            <a:avLst/>
          </a:prstGeom>
          <a:noFill/>
        </p:spPr>
        <p:txBody>
          <a:bodyPr wrap="square">
            <a:spAutoFit/>
          </a:bodyPr>
          <a:lstStyle/>
          <a:p>
            <a:pPr>
              <a:spcAft>
                <a:spcPts val="1200"/>
              </a:spcAft>
              <a:defRPr sz="1800" b="1">
                <a:solidFill>
                  <a:srgbClr val="38BDF8"/>
                </a:solidFill>
              </a:defRPr>
            </a:pPr>
            <a:r>
              <a:t>Safe Demonstration Mode</a:t>
            </a:r>
          </a:p>
          <a:p>
            <a:pPr>
              <a:spcAft>
                <a:spcPts val="800"/>
              </a:spcAft>
              <a:defRPr sz="1300">
                <a:solidFill>
                  <a:srgbClr val="F8FAFC"/>
                </a:solidFill>
              </a:defRPr>
            </a:pPr>
            <a:r>
              <a:t>•  Outreach Prepared: Prepares email envelope after human approval.</a:t>
            </a:r>
          </a:p>
          <a:p>
            <a:pPr>
              <a:spcAft>
                <a:spcPts val="800"/>
              </a:spcAft>
              <a:defRPr sz="1300">
                <a:solidFill>
                  <a:srgbClr val="F8FAFC"/>
                </a:solidFill>
              </a:defRPr>
            </a:pPr>
            <a:r>
              <a:t>•  No False Claims: Accurately reports 'Outreach Prepared', not sent.</a:t>
            </a:r>
          </a:p>
          <a:p>
            <a:pPr>
              <a:spcAft>
                <a:spcPts val="800"/>
              </a:spcAft>
              <a:defRPr sz="1300">
                <a:solidFill>
                  <a:srgbClr val="F8FAFC"/>
                </a:solidFill>
              </a:defRPr>
            </a:pPr>
            <a:r>
              <a:t>•  Safe Mode Operation: Stores envelope, subject, body, and timestamp in Data Table.</a:t>
            </a:r>
          </a:p>
          <a:p>
            <a:pPr>
              <a:spcAft>
                <a:spcPts val="800"/>
              </a:spcAft>
              <a:defRPr sz="1300">
                <a:solidFill>
                  <a:srgbClr val="F8FAFC"/>
                </a:solidFill>
              </a:defRPr>
            </a:pPr>
            <a:r>
              <a:t>•  Zero Accidental Spam: Prevents unauthorized external emailing during demos.</a:t>
            </a:r>
          </a:p>
          <a:p>
            <a:pPr>
              <a:spcAft>
                <a:spcPts val="800"/>
              </a:spcAft>
              <a:defRPr sz="1300">
                <a:solidFill>
                  <a:srgbClr val="F8FAFC"/>
                </a:solidFill>
              </a:defRPr>
            </a:pPr>
            <a:r>
              <a:t>•  Production Ready: Drop-in connection to Gmail/SMTP when credentials are provided.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COLLEGE PROJECT • ASSIGNMENT 07</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defRPr>
            </a:pPr>
            <a:r>
              <a:t>Response Tracking: Automated Follow-up Cadence</a:t>
            </a:r>
          </a:p>
        </p:txBody>
      </p:sp>
      <p:sp>
        <p:nvSpPr>
          <p:cNvPr id="5" name="Rounded Rectangle 4"/>
          <p:cNvSpPr/>
          <p:nvPr/>
        </p:nvSpPr>
        <p:spPr>
          <a:xfrm>
            <a:off x="731520" y="1645920"/>
            <a:ext cx="5120640" cy="4389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023360"/>
          </a:xfrm>
          <a:prstGeom prst="rect">
            <a:avLst/>
          </a:prstGeom>
          <a:noFill/>
        </p:spPr>
        <p:txBody>
          <a:bodyPr wrap="square">
            <a:spAutoFit/>
          </a:bodyPr>
          <a:lstStyle/>
          <a:p>
            <a:pPr>
              <a:spcAft>
                <a:spcPts val="1200"/>
              </a:spcAft>
              <a:defRPr sz="1800" b="1">
                <a:solidFill>
                  <a:srgbClr val="38BDF8"/>
                </a:solidFill>
              </a:defRPr>
            </a:pPr>
            <a:r>
              <a:t>Multi-Tier Follow-up Engine</a:t>
            </a:r>
          </a:p>
          <a:p>
            <a:pPr>
              <a:spcAft>
                <a:spcPts val="800"/>
              </a:spcAft>
              <a:defRPr sz="1300">
                <a:solidFill>
                  <a:srgbClr val="F8FAFC"/>
                </a:solidFill>
              </a:defRPr>
            </a:pPr>
            <a:r>
              <a:t>•  Trigger: Lead remains in 'No Response' status after initial outreach.</a:t>
            </a:r>
          </a:p>
          <a:p>
            <a:pPr>
              <a:spcAft>
                <a:spcPts val="800"/>
              </a:spcAft>
              <a:defRPr sz="1300">
                <a:solidFill>
                  <a:srgbClr val="F8FAFC"/>
                </a:solidFill>
              </a:defRPr>
            </a:pPr>
            <a:r>
              <a:t>•  Follow-up #1 (Day +3): Gentle check-in referencing original pain point and social proof.</a:t>
            </a:r>
          </a:p>
          <a:p>
            <a:pPr>
              <a:spcAft>
                <a:spcPts val="800"/>
              </a:spcAft>
              <a:defRPr sz="1300">
                <a:solidFill>
                  <a:srgbClr val="F8FAFC"/>
                </a:solidFill>
              </a:defRPr>
            </a:pPr>
            <a:r>
              <a:t>•  Follow-up #2 (Day +7): Polite 'breakup' email acknowledging priority shift.</a:t>
            </a:r>
          </a:p>
          <a:p>
            <a:pPr>
              <a:spcAft>
                <a:spcPts val="800"/>
              </a:spcAft>
              <a:defRPr sz="1300">
                <a:solidFill>
                  <a:srgbClr val="F8FAFC"/>
                </a:solidFill>
              </a:defRPr>
            </a:pPr>
            <a:r>
              <a:t>•  Mark Cold / Nurture: If silent after 2 follow-ups, lead is archived from active cadence.</a:t>
            </a:r>
          </a:p>
          <a:p>
            <a:pPr>
              <a:spcAft>
                <a:spcPts val="800"/>
              </a:spcAft>
              <a:defRPr sz="1300">
                <a:solidFill>
                  <a:srgbClr val="F8FAFC"/>
                </a:solidFill>
              </a:defRPr>
            </a:pPr>
            <a:r>
              <a:t>•  Inbox Respect: Prevents email fatigue and protects domain reputation.</a:t>
            </a:r>
          </a:p>
        </p:txBody>
      </p:sp>
      <p:sp>
        <p:nvSpPr>
          <p:cNvPr id="7" name="Rounded Rectangle 6"/>
          <p:cNvSpPr/>
          <p:nvPr/>
        </p:nvSpPr>
        <p:spPr>
          <a:xfrm>
            <a:off x="6217920" y="1645920"/>
            <a:ext cx="512064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754880" cy="4023360"/>
          </a:xfrm>
          <a:prstGeom prst="rect">
            <a:avLst/>
          </a:prstGeom>
          <a:noFill/>
        </p:spPr>
        <p:txBody>
          <a:bodyPr wrap="square">
            <a:spAutoFit/>
          </a:bodyPr>
          <a:lstStyle/>
          <a:p>
            <a:pPr>
              <a:spcAft>
                <a:spcPts val="1200"/>
              </a:spcAft>
              <a:defRPr sz="1800" b="1">
                <a:solidFill>
                  <a:srgbClr val="38BDF8"/>
                </a:solidFill>
              </a:defRPr>
            </a:pPr>
            <a:r>
              <a:t>AI Response Sentiment Analysis</a:t>
            </a:r>
          </a:p>
          <a:p>
            <a:pPr>
              <a:spcAft>
                <a:spcPts val="800"/>
              </a:spcAft>
              <a:defRPr sz="1300">
                <a:solidFill>
                  <a:srgbClr val="F8FAFC"/>
                </a:solidFill>
              </a:defRPr>
            </a:pPr>
            <a:r>
              <a:t>•  Trigger: Inbound prospect email reply detected.</a:t>
            </a:r>
          </a:p>
          <a:p>
            <a:pPr>
              <a:spcAft>
                <a:spcPts val="800"/>
              </a:spcAft>
              <a:defRPr sz="1300">
                <a:solidFill>
                  <a:srgbClr val="F8FAFC"/>
                </a:solidFill>
              </a:defRPr>
            </a:pPr>
            <a:r>
              <a:t>•  AI Classification: Analyzes intent into Interested, Not Interested, or Unclear.</a:t>
            </a:r>
          </a:p>
          <a:p>
            <a:pPr>
              <a:spcAft>
                <a:spcPts val="800"/>
              </a:spcAft>
              <a:defRPr sz="1300">
                <a:solidFill>
                  <a:srgbClr val="F8FAFC"/>
                </a:solidFill>
              </a:defRPr>
            </a:pPr>
            <a:r>
              <a:t>•  Interested: High buying intent → Triggers immediate Sales Handoff.</a:t>
            </a:r>
          </a:p>
          <a:p>
            <a:pPr>
              <a:spcAft>
                <a:spcPts val="800"/>
              </a:spcAft>
              <a:defRPr sz="1300">
                <a:solidFill>
                  <a:srgbClr val="F8FAFC"/>
                </a:solidFill>
              </a:defRPr>
            </a:pPr>
            <a:r>
              <a:t>•  Not Interested: Respects objection → Marks Closed Lost / Nurture.</a:t>
            </a:r>
          </a:p>
          <a:p>
            <a:pPr>
              <a:spcAft>
                <a:spcPts val="800"/>
              </a:spcAft>
              <a:defRPr sz="1300">
                <a:solidFill>
                  <a:srgbClr val="F8FAFC"/>
                </a:solidFill>
              </a:defRPr>
            </a:pPr>
            <a:r>
              <a:t>•  Unclear: Ambiguous or OOO reply → Queues for manual SDR review.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COLLEGE PROJECT • ASSIGNMENT 07</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defRPr>
            </a:pPr>
            <a:r>
              <a:t>Sales Handoff Dossier &amp; Empirical Test Results</a:t>
            </a:r>
          </a:p>
        </p:txBody>
      </p:sp>
      <p:sp>
        <p:nvSpPr>
          <p:cNvPr id="5" name="Rounded Rectangle 4"/>
          <p:cNvSpPr/>
          <p:nvPr/>
        </p:nvSpPr>
        <p:spPr>
          <a:xfrm>
            <a:off x="731520" y="1645920"/>
            <a:ext cx="512064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023360"/>
          </a:xfrm>
          <a:prstGeom prst="rect">
            <a:avLst/>
          </a:prstGeom>
          <a:noFill/>
        </p:spPr>
        <p:txBody>
          <a:bodyPr wrap="square">
            <a:spAutoFit/>
          </a:bodyPr>
          <a:lstStyle/>
          <a:p>
            <a:pPr>
              <a:spcAft>
                <a:spcPts val="1200"/>
              </a:spcAft>
              <a:defRPr sz="1800" b="1">
                <a:solidFill>
                  <a:srgbClr val="38BDF8"/>
                </a:solidFill>
              </a:defRPr>
            </a:pPr>
            <a:r>
              <a:t>Automated Sales Handoff Dossier</a:t>
            </a:r>
          </a:p>
          <a:p>
            <a:pPr>
              <a:spcAft>
                <a:spcPts val="800"/>
              </a:spcAft>
              <a:defRPr sz="1300">
                <a:solidFill>
                  <a:srgbClr val="F8FAFC"/>
                </a:solidFill>
              </a:defRPr>
            </a:pPr>
            <a:r>
              <a:t>•  Handoff ID: Unique traceable transaction token.</a:t>
            </a:r>
          </a:p>
          <a:p>
            <a:pPr>
              <a:spcAft>
                <a:spcPts val="800"/>
              </a:spcAft>
              <a:defRPr sz="1300">
                <a:solidFill>
                  <a:srgbClr val="F8FAFC"/>
                </a:solidFill>
              </a:defRPr>
            </a:pPr>
            <a:r>
              <a:t>•  Comprehensive Lead Dossier: Title, company, verified phone, and email.</a:t>
            </a:r>
          </a:p>
          <a:p>
            <a:pPr>
              <a:spcAft>
                <a:spcPts val="800"/>
              </a:spcAft>
              <a:defRPr sz="1300">
                <a:solidFill>
                  <a:srgbClr val="F8FAFC"/>
                </a:solidFill>
              </a:defRPr>
            </a:pPr>
            <a:r>
              <a:t>•  Scoring &amp; Fit Summary: 0-100 score + full AI qualification rationale.</a:t>
            </a:r>
          </a:p>
          <a:p>
            <a:pPr>
              <a:spcAft>
                <a:spcPts val="800"/>
              </a:spcAft>
              <a:defRPr sz="1300">
                <a:solidFill>
                  <a:srgbClr val="F8FAFC"/>
                </a:solidFill>
              </a:defRPr>
            </a:pPr>
            <a:r>
              <a:t>•  Sentiment &amp; Objections: Analyzed inbound reply and interest level.</a:t>
            </a:r>
          </a:p>
          <a:p>
            <a:pPr>
              <a:spcAft>
                <a:spcPts val="800"/>
              </a:spcAft>
              <a:defRPr sz="1300">
                <a:solidFill>
                  <a:srgbClr val="F8FAFC"/>
                </a:solidFill>
              </a:defRPr>
            </a:pPr>
            <a:r>
              <a:t>•  Next Action &amp; SLA: Recommends specific meeting agenda; alerts AE pod (&lt; 2 hr SLA).</a:t>
            </a:r>
          </a:p>
        </p:txBody>
      </p:sp>
      <p:sp>
        <p:nvSpPr>
          <p:cNvPr id="7" name="Rounded Rectangle 6"/>
          <p:cNvSpPr/>
          <p:nvPr/>
        </p:nvSpPr>
        <p:spPr>
          <a:xfrm>
            <a:off x="6217920" y="1645920"/>
            <a:ext cx="5120640" cy="4389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754880" cy="4023360"/>
          </a:xfrm>
          <a:prstGeom prst="rect">
            <a:avLst/>
          </a:prstGeom>
          <a:noFill/>
        </p:spPr>
        <p:txBody>
          <a:bodyPr wrap="square">
            <a:spAutoFit/>
          </a:bodyPr>
          <a:lstStyle/>
          <a:p>
            <a:pPr>
              <a:spcAft>
                <a:spcPts val="1200"/>
              </a:spcAft>
              <a:defRPr sz="1800" b="1">
                <a:solidFill>
                  <a:srgbClr val="38BDF8"/>
                </a:solidFill>
              </a:defRPr>
            </a:pPr>
            <a:r>
              <a:t>Empirical Test Verification (6/6 Passed)</a:t>
            </a:r>
          </a:p>
          <a:p>
            <a:pPr>
              <a:spcAft>
                <a:spcPts val="800"/>
              </a:spcAft>
              <a:defRPr sz="1300">
                <a:solidFill>
                  <a:srgbClr val="F8FAFC"/>
                </a:solidFill>
              </a:defRPr>
            </a:pPr>
            <a:r>
              <a:t>•  TEST 1 (Qualified Enterprise): Score 98/100 → Outreach Approved.</a:t>
            </a:r>
          </a:p>
          <a:p>
            <a:pPr>
              <a:spcAft>
                <a:spcPts val="800"/>
              </a:spcAft>
              <a:defRPr sz="1300">
                <a:solidFill>
                  <a:srgbClr val="F8FAFC"/>
                </a:solidFill>
              </a:defRPr>
            </a:pPr>
            <a:r>
              <a:t>•  TEST 2 (Student / Poor Fit): Score 5/100 → Correctly Archived.</a:t>
            </a:r>
          </a:p>
          <a:p>
            <a:pPr>
              <a:spcAft>
                <a:spcPts val="800"/>
              </a:spcAft>
              <a:defRPr sz="1300">
                <a:solidFill>
                  <a:srgbClr val="F8FAFC"/>
                </a:solidFill>
              </a:defRPr>
            </a:pPr>
            <a:r>
              <a:t>•  TEST 3 (Missing Data): Unknown fields preserved; zero hallucination.</a:t>
            </a:r>
          </a:p>
          <a:p>
            <a:pPr>
              <a:spcAft>
                <a:spcPts val="800"/>
              </a:spcAft>
              <a:defRPr sz="1300">
                <a:solidFill>
                  <a:srgbClr val="F8FAFC"/>
                </a:solidFill>
              </a:defRPr>
            </a:pPr>
            <a:r>
              <a:t>•  TEST 4 (Strong Intent): $50k RFP detected → Score 98/100.</a:t>
            </a:r>
          </a:p>
          <a:p>
            <a:pPr>
              <a:spcAft>
                <a:spcPts val="800"/>
              </a:spcAft>
              <a:defRPr sz="1300">
                <a:solidFill>
                  <a:srgbClr val="F8FAFC"/>
                </a:solidFill>
              </a:defRPr>
            </a:pPr>
            <a:r>
              <a:t>•  TEST 5 (Unresponsive): Follow-up #1, #2 → Marked Cold.</a:t>
            </a:r>
          </a:p>
          <a:p>
            <a:pPr>
              <a:spcAft>
                <a:spcPts val="800"/>
              </a:spcAft>
              <a:defRPr sz="1300">
                <a:solidFill>
                  <a:srgbClr val="F8FAFC"/>
                </a:solidFill>
              </a:defRPr>
            </a:pPr>
            <a:r>
              <a:t>•  TEST 6 (Interested Reply): AI Sentiment → Sales Handoff created.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COLLEGE PROJECT • ASSIGNMENT 07</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defRPr>
            </a:pPr>
            <a:r>
              <a:t>Conclusion &amp; Future Roadmap</a:t>
            </a:r>
          </a:p>
        </p:txBody>
      </p:sp>
      <p:sp>
        <p:nvSpPr>
          <p:cNvPr id="5" name="Rounded Rectangle 4"/>
          <p:cNvSpPr/>
          <p:nvPr/>
        </p:nvSpPr>
        <p:spPr>
          <a:xfrm>
            <a:off x="731520" y="1645920"/>
            <a:ext cx="5120640" cy="4389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023360"/>
          </a:xfrm>
          <a:prstGeom prst="rect">
            <a:avLst/>
          </a:prstGeom>
          <a:noFill/>
        </p:spPr>
        <p:txBody>
          <a:bodyPr wrap="square">
            <a:spAutoFit/>
          </a:bodyPr>
          <a:lstStyle/>
          <a:p>
            <a:pPr>
              <a:spcAft>
                <a:spcPts val="1200"/>
              </a:spcAft>
              <a:defRPr sz="1800" b="1">
                <a:solidFill>
                  <a:srgbClr val="38BDF8"/>
                </a:solidFill>
              </a:defRPr>
            </a:pPr>
            <a:r>
              <a:t>Project Summary &amp; Key Takeaways</a:t>
            </a:r>
          </a:p>
          <a:p>
            <a:pPr>
              <a:spcAft>
                <a:spcPts val="800"/>
              </a:spcAft>
              <a:defRPr sz="1300">
                <a:solidFill>
                  <a:srgbClr val="F8FAFC"/>
                </a:solidFill>
              </a:defRPr>
            </a:pPr>
            <a:r>
              <a:t>•  Complete Pipeline: Successfully unified lead ingestion, scoring, outreach, and handoff.</a:t>
            </a:r>
          </a:p>
          <a:p>
            <a:pPr>
              <a:spcAft>
                <a:spcPts val="800"/>
              </a:spcAft>
              <a:defRPr sz="1300">
                <a:solidFill>
                  <a:srgbClr val="F8FAFC"/>
                </a:solidFill>
              </a:defRPr>
            </a:pPr>
            <a:r>
              <a:t>•  Measurable AI Value: Cut manual SDR triage time from hours to under 30 seconds.</a:t>
            </a:r>
          </a:p>
          <a:p>
            <a:pPr>
              <a:spcAft>
                <a:spcPts val="800"/>
              </a:spcAft>
              <a:defRPr sz="1300">
                <a:solidFill>
                  <a:srgbClr val="F8FAFC"/>
                </a:solidFill>
              </a:defRPr>
            </a:pPr>
            <a:r>
              <a:t>•  Human Control: Maintained high governance with approval gates and safe-send modes.</a:t>
            </a:r>
          </a:p>
          <a:p>
            <a:pPr>
              <a:spcAft>
                <a:spcPts val="800"/>
              </a:spcAft>
              <a:defRPr sz="1300">
                <a:solidFill>
                  <a:srgbClr val="F8FAFC"/>
                </a:solidFill>
              </a:defRPr>
            </a:pPr>
            <a:r>
              <a:t>•  Production Ready: Modular n8n workflow importable with zero architectural lock-in.</a:t>
            </a:r>
          </a:p>
          <a:p>
            <a:pPr>
              <a:spcAft>
                <a:spcPts val="800"/>
              </a:spcAft>
              <a:defRPr sz="1300">
                <a:solidFill>
                  <a:srgbClr val="F8FAFC"/>
                </a:solidFill>
              </a:defRPr>
            </a:pPr>
            <a:r>
              <a:t>•  Academic Excellence: Fully satisfies all Assignment 07 criteria.</a:t>
            </a:r>
          </a:p>
        </p:txBody>
      </p:sp>
      <p:sp>
        <p:nvSpPr>
          <p:cNvPr id="7" name="Rounded Rectangle 6"/>
          <p:cNvSpPr/>
          <p:nvPr/>
        </p:nvSpPr>
        <p:spPr>
          <a:xfrm>
            <a:off x="6217920" y="1645920"/>
            <a:ext cx="512064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754880" cy="4023360"/>
          </a:xfrm>
          <a:prstGeom prst="rect">
            <a:avLst/>
          </a:prstGeom>
          <a:noFill/>
        </p:spPr>
        <p:txBody>
          <a:bodyPr wrap="square">
            <a:spAutoFit/>
          </a:bodyPr>
          <a:lstStyle/>
          <a:p>
            <a:pPr>
              <a:spcAft>
                <a:spcPts val="1200"/>
              </a:spcAft>
              <a:defRPr sz="1800" b="1">
                <a:solidFill>
                  <a:srgbClr val="38BDF8"/>
                </a:solidFill>
              </a:defRPr>
            </a:pPr>
            <a:r>
              <a:t>Future Enhancements</a:t>
            </a:r>
          </a:p>
          <a:p>
            <a:pPr>
              <a:spcAft>
                <a:spcPts val="800"/>
              </a:spcAft>
              <a:defRPr sz="1300">
                <a:solidFill>
                  <a:srgbClr val="F8FAFC"/>
                </a:solidFill>
              </a:defRPr>
            </a:pPr>
            <a:r>
              <a:t>•  Bidirectional CRM Sync: Native real-time sync with HubSpot and Salesforce.</a:t>
            </a:r>
          </a:p>
          <a:p>
            <a:pPr>
              <a:spcAft>
                <a:spcPts val="800"/>
              </a:spcAft>
              <a:defRPr sz="1300">
                <a:solidFill>
                  <a:srgbClr val="F8FAFC"/>
                </a:solidFill>
              </a:defRPr>
            </a:pPr>
            <a:r>
              <a:t>•  Live Web Research Agent: Multi-agent web scraping to enrich company news.</a:t>
            </a:r>
          </a:p>
          <a:p>
            <a:pPr>
              <a:spcAft>
                <a:spcPts val="800"/>
              </a:spcAft>
              <a:defRPr sz="1300">
                <a:solidFill>
                  <a:srgbClr val="F8FAFC"/>
                </a:solidFill>
              </a:defRPr>
            </a:pPr>
            <a:r>
              <a:t>•  Voice Agent Handoff: Triggering conversational AI calls via Retell/Vapi.</a:t>
            </a:r>
          </a:p>
          <a:p>
            <a:pPr>
              <a:spcAft>
                <a:spcPts val="800"/>
              </a:spcAft>
              <a:defRPr sz="1300">
                <a:solidFill>
                  <a:srgbClr val="F8FAFC"/>
                </a:solidFill>
              </a:defRPr>
            </a:pPr>
            <a:r>
              <a:t>•  Multi-Language Outreach: Localized messaging for international markets.</a:t>
            </a:r>
          </a:p>
          <a:p>
            <a:pPr>
              <a:spcAft>
                <a:spcPts val="800"/>
              </a:spcAft>
              <a:defRPr sz="1300">
                <a:solidFill>
                  <a:srgbClr val="F8FAFC"/>
                </a:solidFill>
              </a:defRPr>
            </a:pPr>
            <a:r>
              <a:t>•  A/B Testing Engine: Autonomous optimization of outreach conversion rates.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